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Arimo"/>
      <p:regular r:id="rId201314"/>
    </p:embeddedFont>
    <p:embeddedFont>
      <p:font typeface="Arimo Medium"/>
      <p:regular r:id="rId201315"/>
    </p:embeddedFont>
    <p:embeddedFont>
      <p:font typeface="Arimo SemiBold"/>
      <p:regular r:id="rId201316"/>
    </p:embeddedFont>
    <p:embeddedFont>
      <p:font typeface="Arimo Bold"/>
      <p:regular r:id="rId201317"/>
    </p:embeddedFont>
    <p:embeddedFont>
      <p:font typeface="Syne"/>
      <p:regular r:id="rId201318"/>
    </p:embeddedFont>
    <p:embeddedFont>
      <p:font typeface="Syne Medium"/>
      <p:regular r:id="rId201319"/>
    </p:embeddedFont>
    <p:embeddedFont>
      <p:font typeface="Syne SemiBold"/>
      <p:regular r:id="rId201320"/>
    </p:embeddedFont>
    <p:embeddedFont>
      <p:font typeface="Syne Bold"/>
      <p:regular r:id="rId201321"/>
    </p:embeddedFont>
    <p:embeddedFont>
      <p:font typeface="Syne ExtraBold"/>
      <p:regular r:id="rId2013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Relationship Id="rId201324" Target="fonts/201324.fntdata" Type="http://schemas.openxmlformats.org/officeDocument/2006/relationships/font"/><Relationship Id="rId201325" Target="fonts/201325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svg"/><Relationship Id="rId4" Type="http://schemas.openxmlformats.org/officeDocument/2006/relationships/image" Target="../media/image-2-2.png"/><Relationship Id="rId5" Type="http://schemas.openxmlformats.org/officeDocument/2006/relationships/image" Target="../media/image-2-3.sv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2.png"/><Relationship Id="rId5" Type="http://schemas.openxmlformats.org/officeDocument/2006/relationships/image" Target="../media/image-7-3.svg"/><Relationship Id="rId6" Type="http://schemas.openxmlformats.org/officeDocument/2006/relationships/image" Target="../media/image-7-6.png"/><Relationship Id="rId7" Type="http://schemas.openxmlformats.org/officeDocument/2006/relationships/image" Target="../media/image-7-7.sv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jpeg"/><Relationship Id="rId3" Type="http://schemas.openxmlformats.org/officeDocument/2006/relationships/image" Target="../media/image-8-3.jpe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23577" y="1745531"/>
            <a:ext cx="3300040" cy="281136"/>
          </a:xfrm>
          <a:prstGeom prst="roundRect">
            <a:avLst>
              <a:gd name="adj" fmla="val 6386"/>
            </a:avLst>
          </a:prstGeom>
          <a:solidFill>
            <a:srgbClr val="0F004D"/>
          </a:solidFill>
          <a:ln/>
        </p:spPr>
      </p:sp>
      <p:sp>
        <p:nvSpPr>
          <p:cNvPr id="4" name="Text 1"/>
          <p:cNvSpPr/>
          <p:nvPr/>
        </p:nvSpPr>
        <p:spPr>
          <a:xfrm>
            <a:off x="613321" y="1790402"/>
            <a:ext cx="3577754" cy="1913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INTERNSHIP FINAL PRESENTATION · DATA ANALYTICS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523577" y="2086496"/>
            <a:ext cx="4667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HR Attrition Analysis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523577" y="2750865"/>
            <a:ext cx="4667845" cy="6470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Amey Kishor Sawatkar</a:t>
            </a:r>
            <a:pPr algn="l" indent="0" marL="0">
              <a:lnSpc>
                <a:spcPct val="133000"/>
              </a:lnSpc>
              <a:spcAft>
                <a:spcPts val="1300"/>
              </a:spcAft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· SkillinfyTech Solutions Pvt. Ltd.</a:t>
            </a:r>
            <a:endParaRPr lang="en-US" sz="11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Internship Domain: Data Analytics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952577" y="436736"/>
            <a:ext cx="4667845" cy="4124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Introduction</a:t>
            </a:r>
            <a:endParaRPr lang="en-US" sz="2550" dirty="0"/>
          </a:p>
        </p:txBody>
      </p:sp>
      <p:sp>
        <p:nvSpPr>
          <p:cNvPr id="4" name="Text 1"/>
          <p:cNvSpPr/>
          <p:nvPr/>
        </p:nvSpPr>
        <p:spPr>
          <a:xfrm>
            <a:off x="3952577" y="1046411"/>
            <a:ext cx="4667845" cy="8694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Employee attrition — the voluntary or involuntary exit of employees — is one of the most critical challenges in workforce management. High attrition drives up recruitment costs, disrupts team productivity, and signals deeper organizational issues.</a:t>
            </a:r>
            <a:endParaRPr lang="en-US" sz="11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52577" y="2063725"/>
            <a:ext cx="4667845" cy="1255737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188023" y="2222971"/>
            <a:ext cx="4273153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Is HR Attrition Analysis?</a:t>
            </a:r>
            <a:endParaRPr lang="en-US" sz="1250" dirty="0"/>
          </a:p>
        </p:txBody>
      </p:sp>
      <p:sp>
        <p:nvSpPr>
          <p:cNvPr id="7" name="Text 3"/>
          <p:cNvSpPr/>
          <p:nvPr/>
        </p:nvSpPr>
        <p:spPr>
          <a:xfrm>
            <a:off x="4188023" y="2508126"/>
            <a:ext cx="4273153" cy="6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data-driven approach to understanding why employees leave, identifying at-risk segments, and supporting retention strategies through structured analytics.</a:t>
            </a:r>
            <a:endParaRPr lang="en-US" sz="110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952577" y="3450952"/>
            <a:ext cx="4667845" cy="125573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4188023" y="3610198"/>
            <a:ext cx="4273153" cy="2062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Scope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4188023" y="3895353"/>
            <a:ext cx="4273153" cy="6520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9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This project analyzes the IBM HR Attrition Dataset using Python, MySQL, and Power BI to uncover workforce trends, salary patterns, and demographic factors influencing attrition.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5223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Problem Statement &amp; Objectives</a:t>
            </a:r>
            <a:endParaRPr lang="en-US" sz="2750" dirty="0"/>
          </a:p>
        </p:txBody>
      </p:sp>
      <p:sp>
        <p:nvSpPr>
          <p:cNvPr id="3" name="Shape 1"/>
          <p:cNvSpPr/>
          <p:nvPr/>
        </p:nvSpPr>
        <p:spPr>
          <a:xfrm>
            <a:off x="415900" y="1316608"/>
            <a:ext cx="4081314" cy="3174578"/>
          </a:xfrm>
          <a:prstGeom prst="roundRect">
            <a:avLst>
              <a:gd name="adj" fmla="val 707"/>
            </a:avLst>
          </a:prstGeom>
          <a:solidFill>
            <a:srgbClr val="8061FF"/>
          </a:solidFill>
          <a:ln/>
        </p:spPr>
      </p:sp>
      <p:sp>
        <p:nvSpPr>
          <p:cNvPr id="4" name="Text 2"/>
          <p:cNvSpPr/>
          <p:nvPr/>
        </p:nvSpPr>
        <p:spPr>
          <a:xfrm>
            <a:off x="565472" y="1466180"/>
            <a:ext cx="378216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The Problem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565472" y="1835721"/>
            <a:ext cx="3782169" cy="1196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Organizations lose valuable talent without clear visibility into the drivers of attrition. Without structured data analysis, HR teams struggle to identify at-risk employees, understand departmental patterns, or make evidence-based retention decisions.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4759226" y="1466180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Objectives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759226" y="1835721"/>
            <a:ext cx="3865959" cy="260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Clean and preprocess the IBM HR Attrition Dataset for analysis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Build a MySQL database and execute 50+ business-oriented SQL queries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Identify attrition patterns by department, job role, age, and income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Develop a 3-page interactive Power BI dashboard for HR stakeholders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Surface actionable insights to support workforce retention strategies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51408"/>
            <a:ext cx="8096845" cy="4262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Tools &amp; Technologies Used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523577" y="1258416"/>
            <a:ext cx="8096845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modern data analytics stack was leveraged end-to-end — from data cleaning and statistical analysis to database management and interactive visualization.</a:t>
            </a:r>
            <a:endParaRPr lang="en-US" sz="1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23577" y="1872928"/>
            <a:ext cx="289843" cy="28984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2338239"/>
            <a:ext cx="2581945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Python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23577" y="2635523"/>
            <a:ext cx="2581945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Core language for data cleaning, transformation, and exploratory analysis</a:t>
            </a:r>
            <a:endParaRPr lang="en-US" sz="110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80990" y="1872928"/>
            <a:ext cx="289843" cy="28984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80990" y="2338239"/>
            <a:ext cx="2581945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Pandas &amp; NumPy</a:t>
            </a:r>
            <a:endParaRPr lang="en-US" sz="1300" dirty="0"/>
          </a:p>
        </p:txBody>
      </p:sp>
      <p:sp>
        <p:nvSpPr>
          <p:cNvPr id="9" name="Text 5"/>
          <p:cNvSpPr/>
          <p:nvPr/>
        </p:nvSpPr>
        <p:spPr>
          <a:xfrm>
            <a:off x="3280990" y="2635523"/>
            <a:ext cx="2581945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Data manipulation, aggregation, and numerical computation</a:t>
            </a:r>
            <a:endParaRPr lang="en-US" sz="11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8404" y="1872928"/>
            <a:ext cx="289843" cy="289843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8404" y="2338239"/>
            <a:ext cx="2582019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Matplotlib &amp; Seaborn</a:t>
            </a:r>
            <a:endParaRPr lang="en-US" sz="1300" dirty="0"/>
          </a:p>
        </p:txBody>
      </p:sp>
      <p:sp>
        <p:nvSpPr>
          <p:cNvPr id="12" name="Text 7"/>
          <p:cNvSpPr/>
          <p:nvPr/>
        </p:nvSpPr>
        <p:spPr>
          <a:xfrm>
            <a:off x="6038404" y="2635523"/>
            <a:ext cx="2582019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Statistical plotting and visual exploration of HR data</a:t>
            </a:r>
            <a:endParaRPr lang="en-US" sz="11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23577" y="3372892"/>
            <a:ext cx="289843" cy="289843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523577" y="3838203"/>
            <a:ext cx="2581945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MySQL &amp; SQL</a:t>
            </a:r>
            <a:endParaRPr lang="en-US" sz="1300" dirty="0"/>
          </a:p>
        </p:txBody>
      </p:sp>
      <p:sp>
        <p:nvSpPr>
          <p:cNvPr id="15" name="Text 9"/>
          <p:cNvSpPr/>
          <p:nvPr/>
        </p:nvSpPr>
        <p:spPr>
          <a:xfrm>
            <a:off x="523577" y="4135487"/>
            <a:ext cx="2581945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Relational database creation and 50+ structured business queries</a:t>
            </a:r>
            <a:endParaRPr lang="en-US" sz="110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80990" y="3372892"/>
            <a:ext cx="289843" cy="289843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80990" y="3838203"/>
            <a:ext cx="2581945" cy="2130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8" name="Text 11"/>
          <p:cNvSpPr/>
          <p:nvPr/>
        </p:nvSpPr>
        <p:spPr>
          <a:xfrm>
            <a:off x="3280990" y="4135487"/>
            <a:ext cx="2581945" cy="4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Interactive 3-page dashboard for HR stakeholders and decision-makers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20365"/>
            <a:ext cx="8096845" cy="3368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Dataset Overview</a:t>
            </a:r>
            <a:endParaRPr lang="en-US" sz="21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987326"/>
            <a:ext cx="5165154" cy="292685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972845" y="1405682"/>
            <a:ext cx="2652266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IBM HR Attrition Dataset</a:t>
            </a:r>
            <a:endParaRPr lang="en-US" sz="1050" dirty="0"/>
          </a:p>
        </p:txBody>
      </p:sp>
      <p:sp>
        <p:nvSpPr>
          <p:cNvPr id="5" name="Text 2"/>
          <p:cNvSpPr/>
          <p:nvPr/>
        </p:nvSpPr>
        <p:spPr>
          <a:xfrm>
            <a:off x="5972845" y="1661740"/>
            <a:ext cx="2652266" cy="6468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widely used benchmark dataset containing employee records with demographic, job-related, and satisfaction attributes — ideal for attrition modeling and workforce analytics.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972845" y="2396207"/>
            <a:ext cx="2652266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Attributes Analyzed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5972845" y="2652266"/>
            <a:ext cx="2652266" cy="90048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82880" indent="-18288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Age, Gender, Marital Status, Education Field</a:t>
            </a:r>
            <a:endParaRPr lang="en-US" sz="900" dirty="0"/>
          </a:p>
          <a:p>
            <a:pPr algn="l" marL="182880" indent="-18288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Department, Job Role, Job Level, Years at Company</a:t>
            </a:r>
            <a:endParaRPr lang="en-US" sz="900" dirty="0"/>
          </a:p>
          <a:p>
            <a:pPr algn="l" marL="182880" indent="-18288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Monthly Income, Overtime, Work-Life Balance</a:t>
            </a:r>
            <a:endParaRPr lang="en-US" sz="900" dirty="0"/>
          </a:p>
          <a:p>
            <a:pPr algn="l" marL="182880" indent="-182880">
              <a:lnSpc>
                <a:spcPct val="118000"/>
              </a:lnSpc>
              <a:buSzPct val="100000"/>
              <a:buChar char="•"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Attrition (Target Variable: Yes / No)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23577" y="4111377"/>
            <a:ext cx="4004593" cy="611758"/>
          </a:xfrm>
          <a:prstGeom prst="roundRect">
            <a:avLst>
              <a:gd name="adj" fmla="val 2809"/>
            </a:avLst>
          </a:prstGeom>
          <a:solidFill>
            <a:srgbClr val="2B2952"/>
          </a:solidFill>
          <a:ln/>
        </p:spPr>
      </p:sp>
      <p:sp>
        <p:nvSpPr>
          <p:cNvPr id="9" name="Text 6"/>
          <p:cNvSpPr/>
          <p:nvPr/>
        </p:nvSpPr>
        <p:spPr>
          <a:xfrm>
            <a:off x="638101" y="4225900"/>
            <a:ext cx="3775546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1,470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38101" y="4446910"/>
            <a:ext cx="3775546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Total employee records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15830" y="4111377"/>
            <a:ext cx="4004593" cy="611758"/>
          </a:xfrm>
          <a:prstGeom prst="roundRect">
            <a:avLst>
              <a:gd name="adj" fmla="val 2809"/>
            </a:avLst>
          </a:prstGeom>
          <a:solidFill>
            <a:srgbClr val="2B2952"/>
          </a:solidFill>
          <a:ln/>
        </p:spPr>
      </p:sp>
      <p:sp>
        <p:nvSpPr>
          <p:cNvPr id="12" name="Text 9"/>
          <p:cNvSpPr/>
          <p:nvPr/>
        </p:nvSpPr>
        <p:spPr>
          <a:xfrm>
            <a:off x="4730353" y="4225900"/>
            <a:ext cx="3775546" cy="1683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32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730353" y="4446910"/>
            <a:ext cx="3775546" cy="161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9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Cleaned columns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483840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Methodology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523577" y="1223070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structured five-phase workflow was followed to ensure data quality, analytical rigor, and stakeholder-ready outputs at every stage.</a:t>
            </a:r>
            <a:endParaRPr lang="en-US" sz="11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870100"/>
            <a:ext cx="8096845" cy="214245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8171" y="2594506"/>
            <a:ext cx="1223904" cy="412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Collection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48171" y="3069068"/>
            <a:ext cx="1223904" cy="350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IBM HR Attrition Dataset gathered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550676" y="2287464"/>
            <a:ext cx="1223904" cy="412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 Cleaning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2550676" y="2762027"/>
            <a:ext cx="1223904" cy="525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Python with Pandas and NumPy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3953180" y="2594506"/>
            <a:ext cx="1223904" cy="4122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Database Creation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3953180" y="3069068"/>
            <a:ext cx="1223904" cy="35062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MySQL schema design and import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355685" y="2493579"/>
            <a:ext cx="1223904" cy="2061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SQL Analysis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355685" y="2762027"/>
            <a:ext cx="1223904" cy="525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50+ business-focused queries executed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765981" y="2594506"/>
            <a:ext cx="1223904" cy="618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Dashboard Development</a:t>
            </a:r>
            <a:endParaRPr lang="en-US" sz="1250" dirty="0"/>
          </a:p>
        </p:txBody>
      </p:sp>
      <p:sp>
        <p:nvSpPr>
          <p:cNvPr id="14" name="Text 11"/>
          <p:cNvSpPr/>
          <p:nvPr/>
        </p:nvSpPr>
        <p:spPr>
          <a:xfrm>
            <a:off x="6765981" y="3275183"/>
            <a:ext cx="1223904" cy="525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Power BI visuals and stakeholder reports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523577" y="4180805"/>
            <a:ext cx="8096845" cy="4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Each phase built upon the previous — cleaned data fed into MySQL, query outputs informed dashboard design, and visualizations translated findings into actionable HR insights.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17612"/>
            <a:ext cx="4667845" cy="37132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SQL &amp; Database Work</a:t>
            </a:r>
            <a:endParaRPr lang="en-US" sz="230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23577" y="948705"/>
            <a:ext cx="4667845" cy="108882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95623" y="1374800"/>
            <a:ext cx="189309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1</a:t>
            </a:r>
            <a:endParaRPr lang="en-US" sz="1450" dirty="0"/>
          </a:p>
        </p:txBody>
      </p:sp>
      <p:sp>
        <p:nvSpPr>
          <p:cNvPr id="6" name="Text 2"/>
          <p:cNvSpPr/>
          <p:nvPr/>
        </p:nvSpPr>
        <p:spPr>
          <a:xfrm>
            <a:off x="1149251" y="1089199"/>
            <a:ext cx="3901678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Database Setup</a:t>
            </a:r>
            <a:endParaRPr lang="en-US" sz="1150" dirty="0"/>
          </a:p>
        </p:txBody>
      </p:sp>
      <p:sp>
        <p:nvSpPr>
          <p:cNvPr id="7" name="Text 3"/>
          <p:cNvSpPr/>
          <p:nvPr/>
        </p:nvSpPr>
        <p:spPr>
          <a:xfrm>
            <a:off x="1149251" y="1338709"/>
            <a:ext cx="3901678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Created a dedicated MySQL database and structured table schema. Imported the cleaned 1,470-record dataset for persistent, query-ready storage.</a:t>
            </a:r>
            <a:endParaRPr lang="en-US" sz="9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23577" y="2144018"/>
            <a:ext cx="4667845" cy="1088827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695623" y="2570113"/>
            <a:ext cx="189309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2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1149251" y="2284512"/>
            <a:ext cx="3901678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50+ Business Queries</a:t>
            </a:r>
            <a:endParaRPr lang="en-US" sz="1150" dirty="0"/>
          </a:p>
        </p:txBody>
      </p:sp>
      <p:sp>
        <p:nvSpPr>
          <p:cNvPr id="11" name="Text 6"/>
          <p:cNvSpPr/>
          <p:nvPr/>
        </p:nvSpPr>
        <p:spPr>
          <a:xfrm>
            <a:off x="1149251" y="2534022"/>
            <a:ext cx="3901678" cy="55832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Executed structured SQL queries across five analytical domains: attrition rates, department breakdowns, job role patterns, salary distributions, and demographic insights.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23577" y="3339331"/>
            <a:ext cx="4667845" cy="138655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95623" y="3914254"/>
            <a:ext cx="189309" cy="23663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3</a:t>
            </a:r>
            <a:endParaRPr lang="en-US" sz="1450" dirty="0"/>
          </a:p>
        </p:txBody>
      </p:sp>
      <p:sp>
        <p:nvSpPr>
          <p:cNvPr id="14" name="Text 8"/>
          <p:cNvSpPr/>
          <p:nvPr/>
        </p:nvSpPr>
        <p:spPr>
          <a:xfrm>
            <a:off x="1149251" y="3479825"/>
            <a:ext cx="3901678" cy="1856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Analysis Coverage</a:t>
            </a:r>
            <a:endParaRPr lang="en-US" sz="1150" dirty="0"/>
          </a:p>
        </p:txBody>
      </p:sp>
      <p:sp>
        <p:nvSpPr>
          <p:cNvPr id="15" name="Text 9"/>
          <p:cNvSpPr/>
          <p:nvPr/>
        </p:nvSpPr>
        <p:spPr>
          <a:xfrm>
            <a:off x="1149251" y="3729335"/>
            <a:ext cx="3901678" cy="85605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93040" indent="-193040">
              <a:lnSpc>
                <a:spcPct val="12300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Attrition by Department &amp; Job Role</a:t>
            </a:r>
            <a:endParaRPr lang="en-US" sz="950" dirty="0"/>
          </a:p>
          <a:p>
            <a:pPr algn="l" marL="193040" indent="-193040">
              <a:lnSpc>
                <a:spcPct val="12300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Salary vs. Attrition correlation</a:t>
            </a:r>
            <a:endParaRPr lang="en-US" sz="950" dirty="0"/>
          </a:p>
          <a:p>
            <a:pPr algn="l" marL="193040" indent="-193040">
              <a:lnSpc>
                <a:spcPct val="12300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Age group and tenure-based patterns</a:t>
            </a:r>
            <a:endParaRPr lang="en-US" sz="950" dirty="0"/>
          </a:p>
          <a:p>
            <a:pPr algn="l" marL="193040" indent="-193040">
              <a:lnSpc>
                <a:spcPct val="123000"/>
              </a:lnSpc>
              <a:buSzPct val="100000"/>
              <a:buChar char="•"/>
            </a:pPr>
            <a:r>
              <a:rPr lang="en-US" sz="9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Overtime and work-life balance impact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522610"/>
            <a:ext cx="8096845" cy="405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5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Power BI Dashboard Overview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523577" y="1182514"/>
            <a:ext cx="8096845" cy="4238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A </a:t>
            </a:r>
            <a:pPr algn="l" indent="0" marL="0">
              <a:lnSpc>
                <a:spcPct val="128000"/>
              </a:lnSpc>
              <a:buNone/>
            </a:pPr>
            <a:r>
              <a:rPr lang="en-US" sz="10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3-page interactive dashboard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was developed in Power BI to translate analytical findings into a visual, stakeholder-friendly format. Each page serves a distinct analytical purpose.</a:t>
            </a:r>
            <a:endParaRPr lang="en-US" sz="10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1749400"/>
            <a:ext cx="1503908" cy="92943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23577" y="2837706"/>
            <a:ext cx="2593032" cy="405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Page 1 — Executive Dashboard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523577" y="3319686"/>
            <a:ext cx="2593032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KPI cards (Total Employees, Attrition Rate, Avg. Income, Avg. Age) + Attrition by Department and Job Role visualizations.</a:t>
            </a:r>
            <a:endParaRPr lang="en-US" sz="10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5484" y="1749400"/>
            <a:ext cx="1503908" cy="9294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75484" y="2837706"/>
            <a:ext cx="2593032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Page 2 — Employee Insights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3275484" y="3116833"/>
            <a:ext cx="2593032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Gender distribution, Age group breakdown, Marital Status, and Education Field — workforce demographic overview.</a:t>
            </a:r>
            <a:endParaRPr lang="en-US" sz="1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27390" y="1749400"/>
            <a:ext cx="1503908" cy="929432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27390" y="2837706"/>
            <a:ext cx="2593032" cy="202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Page 3 — Attrition Analysis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6027390" y="3116833"/>
            <a:ext cx="2593032" cy="6357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Deep-dive visuals: Attrition by Age Group, Overtime impact, Monthly Income bands, and Work-Life Balance ratings.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523577" y="4098503"/>
            <a:ext cx="8096845" cy="522312"/>
          </a:xfrm>
          <a:prstGeom prst="roundRect">
            <a:avLst>
              <a:gd name="adj" fmla="val 3961"/>
            </a:avLst>
          </a:prstGeom>
          <a:solidFill>
            <a:srgbClr val="190080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67" y="4293022"/>
            <a:ext cx="172343" cy="137889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71699" y="4260056"/>
            <a:ext cx="7968035" cy="2119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000000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📌</a:t>
            </a:r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Placeholder: Insert Power BI dashboard screenshots here for viva demonstration.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23577" y="652239"/>
            <a:ext cx="8096845" cy="4400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Key Insights &amp; Findings</a:t>
            </a:r>
            <a:endParaRPr lang="en-US" sz="2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577" y="2155850"/>
            <a:ext cx="2692971" cy="14960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759226" y="1466180"/>
            <a:ext cx="3865959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What the Data Revealed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759226" y="1835721"/>
            <a:ext cx="3865959" cy="2603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Department Trends: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Sales, R&amp;D, and HR recorded the highest concentration of attrition events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Overtime Impact: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Employees working overtime showed a markedly higher likelihood of leaving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Income Correlation: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Lower monthly income bands were associated with elevated attrition rates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Work-Life Balance: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Poor work-life balance ratings emerged as a strong predictor of employee exit</a:t>
            </a:r>
            <a:endParaRPr lang="en-US" sz="1150" dirty="0"/>
          </a:p>
          <a:p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Demographics:</a:t>
            </a:r>
            <a:pPr algn="l" marL="233680" indent="-233680">
              <a:lnSpc>
                <a:spcPct val="133000"/>
              </a:lnSpc>
              <a:buSzPct val="100000"/>
              <a:buChar char="•"/>
            </a:pPr>
            <a:r>
              <a:rPr lang="en-US" sz="11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Younger employees (25–35) and single employees showed higher mobility patterns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577" y="440234"/>
            <a:ext cx="4667845" cy="3849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4" name="Shape 1"/>
          <p:cNvSpPr/>
          <p:nvPr/>
        </p:nvSpPr>
        <p:spPr>
          <a:xfrm>
            <a:off x="523577" y="996925"/>
            <a:ext cx="2276624" cy="1504504"/>
          </a:xfrm>
          <a:prstGeom prst="roundRect">
            <a:avLst>
              <a:gd name="adj" fmla="val 1305"/>
            </a:avLst>
          </a:prstGeom>
          <a:solidFill>
            <a:srgbClr val="2B2952"/>
          </a:solidFill>
          <a:ln/>
        </p:spPr>
      </p:sp>
      <p:sp>
        <p:nvSpPr>
          <p:cNvPr id="5" name="Text 2"/>
          <p:cNvSpPr/>
          <p:nvPr/>
        </p:nvSpPr>
        <p:spPr>
          <a:xfrm>
            <a:off x="654472" y="1127820"/>
            <a:ext cx="2014835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Project Outcomes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54472" y="1389013"/>
            <a:ext cx="2014835" cy="981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Successfully delivered a complete analytics pipeline — from raw data to a polished, interactive Power BI dashboard — using industry-standard tools.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914724" y="996925"/>
            <a:ext cx="2276698" cy="1504504"/>
          </a:xfrm>
          <a:prstGeom prst="roundRect">
            <a:avLst>
              <a:gd name="adj" fmla="val 1305"/>
            </a:avLst>
          </a:prstGeom>
          <a:solidFill>
            <a:srgbClr val="2B2952"/>
          </a:solidFill>
          <a:ln/>
        </p:spPr>
      </p:sp>
      <p:sp>
        <p:nvSpPr>
          <p:cNvPr id="8" name="Text 5"/>
          <p:cNvSpPr/>
          <p:nvPr/>
        </p:nvSpPr>
        <p:spPr>
          <a:xfrm>
            <a:off x="3045619" y="1127820"/>
            <a:ext cx="2014910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Skills Developed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3045619" y="1389013"/>
            <a:ext cx="2014910" cy="981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Hands-on experience with Python data wrangling, SQL querying, database design, and Power BI visualization in a real-world HR analytics context.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523577" y="2615952"/>
            <a:ext cx="4667845" cy="1111895"/>
          </a:xfrm>
          <a:prstGeom prst="roundRect">
            <a:avLst>
              <a:gd name="adj" fmla="val 1766"/>
            </a:avLst>
          </a:prstGeom>
          <a:solidFill>
            <a:srgbClr val="2B2952"/>
          </a:solidFill>
          <a:ln/>
        </p:spPr>
      </p:sp>
      <p:sp>
        <p:nvSpPr>
          <p:cNvPr id="11" name="Text 8"/>
          <p:cNvSpPr/>
          <p:nvPr/>
        </p:nvSpPr>
        <p:spPr>
          <a:xfrm>
            <a:off x="654472" y="2746846"/>
            <a:ext cx="4406057" cy="192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Business Value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54472" y="3008040"/>
            <a:ext cx="4406057" cy="5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Demonstrated how data analytics empowers HR teams to move from reactive to proactive workforce management and evidence-based retention planning.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23577" y="3856658"/>
            <a:ext cx="14288" cy="846534"/>
          </a:xfrm>
          <a:prstGeom prst="roundRect">
            <a:avLst>
              <a:gd name="adj" fmla="val 59998"/>
            </a:avLst>
          </a:prstGeom>
          <a:solidFill>
            <a:srgbClr val="8061FF"/>
          </a:solidFill>
          <a:ln/>
        </p:spPr>
      </p:sp>
      <p:sp>
        <p:nvSpPr>
          <p:cNvPr id="14" name="Text 11"/>
          <p:cNvSpPr/>
          <p:nvPr/>
        </p:nvSpPr>
        <p:spPr>
          <a:xfrm>
            <a:off x="719882" y="3985468"/>
            <a:ext cx="4471541" cy="588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Thank you for your time and attention. This presentation was prepared as part of the Data Analytics Internship at </a:t>
            </a:r>
            <a:pPr algn="l" indent="0" marL="0">
              <a:lnSpc>
                <a:spcPct val="125000"/>
              </a:lnSpc>
              <a:buNone/>
            </a:pPr>
            <a:r>
              <a:rPr lang="en-US" sz="1000" b="1" dirty="0">
                <a:solidFill>
                  <a:srgbClr val="D9E1FF"/>
                </a:solidFill>
                <a:latin typeface="Arimo Bold" pitchFamily="34" charset="0"/>
                <a:ea typeface="Arimo Bold" pitchFamily="34" charset="-122"/>
                <a:cs typeface="Arimo Bold" pitchFamily="34" charset="-120"/>
              </a:rPr>
              <a:t>SkillinfyTech Solutions Pvt. Ltd.</a:t>
            </a:r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 — Amey Kishor Sawatkar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2026-07-07T13:49:07Z</dcterms:created>
  <dcterms:modified xsi:type="dcterms:W3CDTF">2026-07-07T13:49:07Z</dcterms:modified>
</cp:coreProperties>
</file>